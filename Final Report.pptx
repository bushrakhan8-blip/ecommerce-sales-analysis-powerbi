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4"/>
  </p:sldMasterIdLst>
  <p:notesMasterIdLst>
    <p:notesMasterId r:id="rId20"/>
  </p:notesMasterIdLst>
  <p:sldIdLst>
    <p:sldId id="530" r:id="rId5"/>
    <p:sldId id="531" r:id="rId6"/>
    <p:sldId id="533" r:id="rId7"/>
    <p:sldId id="547" r:id="rId8"/>
    <p:sldId id="552" r:id="rId9"/>
    <p:sldId id="553" r:id="rId10"/>
    <p:sldId id="534" r:id="rId11"/>
    <p:sldId id="535" r:id="rId12"/>
    <p:sldId id="554" r:id="rId13"/>
    <p:sldId id="555" r:id="rId14"/>
    <p:sldId id="556" r:id="rId15"/>
    <p:sldId id="557" r:id="rId16"/>
    <p:sldId id="558" r:id="rId17"/>
    <p:sldId id="559" r:id="rId18"/>
    <p:sldId id="5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230"/>
    <a:srgbClr val="422A00"/>
    <a:srgbClr val="FEB52B"/>
    <a:srgbClr val="9A780A"/>
    <a:srgbClr val="F2EFEA"/>
    <a:srgbClr val="935707"/>
    <a:srgbClr val="8822EE"/>
    <a:srgbClr val="F01688"/>
    <a:srgbClr val="2F21F3"/>
    <a:srgbClr val="F016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283EB-A93D-4E60-B5AC-EFDD1626338C}" v="25" dt="2026-01-14T23:20:53.082"/>
    <p1510:client id="{ABB6B1C5-42CD-5317-84B1-57B09FEBE215}" v="8" dt="2026-01-14T23:44:40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422" autoAdjust="0"/>
  </p:normalViewPr>
  <p:slideViewPr>
    <p:cSldViewPr snapToGrid="0">
      <p:cViewPr varScale="1">
        <p:scale>
          <a:sx n="78" d="100"/>
          <a:sy n="78" d="100"/>
        </p:scale>
        <p:origin x="835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095FFD-ACF8-4990-A634-31CF34044E1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20B53316-B518-4A6F-B898-E18159303467}">
      <dgm:prSet/>
      <dgm:spPr/>
      <dgm:t>
        <a:bodyPr/>
        <a:lstStyle/>
        <a:p>
          <a:r>
            <a:rPr lang="en-US" b="1" dirty="0"/>
            <a:t>Primary Recommendations</a:t>
          </a:r>
          <a:endParaRPr lang="en-NZ" dirty="0"/>
        </a:p>
      </dgm:t>
    </dgm:pt>
    <dgm:pt modelId="{0E642077-6322-4748-A441-48B41E7E27CA}" type="parTrans" cxnId="{E96A6D50-C28E-4622-95FB-B219842EAB08}">
      <dgm:prSet/>
      <dgm:spPr/>
      <dgm:t>
        <a:bodyPr/>
        <a:lstStyle/>
        <a:p>
          <a:endParaRPr lang="en-NZ"/>
        </a:p>
      </dgm:t>
    </dgm:pt>
    <dgm:pt modelId="{9F3E5F47-D33A-4FCC-A15B-759993D0199A}" type="sibTrans" cxnId="{E96A6D50-C28E-4622-95FB-B219842EAB08}">
      <dgm:prSet/>
      <dgm:spPr/>
      <dgm:t>
        <a:bodyPr/>
        <a:lstStyle/>
        <a:p>
          <a:endParaRPr lang="en-NZ"/>
        </a:p>
      </dgm:t>
    </dgm:pt>
    <dgm:pt modelId="{0AC83401-DE4B-4682-8E07-32CEA406095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1" dirty="0"/>
            <a:t>Immediate Actions – Primary Turnaround Initiative</a:t>
          </a:r>
          <a:endParaRPr lang="en-NZ" sz="1400" dirty="0"/>
        </a:p>
      </dgm:t>
    </dgm:pt>
    <dgm:pt modelId="{7DE189DD-324A-4C8A-BE16-95950FEEA729}" type="parTrans" cxnId="{4B6F4CEE-57BD-4C7F-B8DA-BC8215F1C564}">
      <dgm:prSet/>
      <dgm:spPr/>
      <dgm:t>
        <a:bodyPr/>
        <a:lstStyle/>
        <a:p>
          <a:endParaRPr lang="en-NZ"/>
        </a:p>
      </dgm:t>
    </dgm:pt>
    <dgm:pt modelId="{4E0E49BE-0F74-4CF7-A562-1F529E081000}" type="sibTrans" cxnId="{4B6F4CEE-57BD-4C7F-B8DA-BC8215F1C564}">
      <dgm:prSet/>
      <dgm:spPr/>
      <dgm:t>
        <a:bodyPr/>
        <a:lstStyle/>
        <a:p>
          <a:endParaRPr lang="en-NZ"/>
        </a:p>
      </dgm:t>
    </dgm:pt>
    <dgm:pt modelId="{8956E6B9-9FA0-4D44-9001-A890965155E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0" dirty="0"/>
            <a:t>Product Diversification</a:t>
          </a:r>
          <a:endParaRPr lang="en-NZ" sz="1400" dirty="0"/>
        </a:p>
      </dgm:t>
    </dgm:pt>
    <dgm:pt modelId="{2FFFEF8C-68C4-41B4-94A1-CF20BE71E298}" type="parTrans" cxnId="{6AFBDEB2-86FF-4A1C-9C7E-A45C05275308}">
      <dgm:prSet/>
      <dgm:spPr/>
      <dgm:t>
        <a:bodyPr/>
        <a:lstStyle/>
        <a:p>
          <a:endParaRPr lang="en-NZ"/>
        </a:p>
      </dgm:t>
    </dgm:pt>
    <dgm:pt modelId="{CC0A4145-A2CD-4CE0-9520-FF56DA589A76}" type="sibTrans" cxnId="{6AFBDEB2-86FF-4A1C-9C7E-A45C05275308}">
      <dgm:prSet/>
      <dgm:spPr/>
      <dgm:t>
        <a:bodyPr/>
        <a:lstStyle/>
        <a:p>
          <a:endParaRPr lang="en-NZ"/>
        </a:p>
      </dgm:t>
    </dgm:pt>
    <dgm:pt modelId="{EC4403D9-E4DA-4C09-9CB0-E1B8EE348ADF}">
      <dgm:prSet/>
      <dgm:spPr>
        <a:solidFill>
          <a:srgbClr val="F2C230"/>
        </a:solidFill>
      </dgm:spPr>
      <dgm:t>
        <a:bodyPr/>
        <a:lstStyle/>
        <a:p>
          <a:r>
            <a:rPr lang="en-US" b="1"/>
            <a:t>Secondary Recommendations</a:t>
          </a:r>
          <a:endParaRPr lang="en-NZ"/>
        </a:p>
      </dgm:t>
    </dgm:pt>
    <dgm:pt modelId="{D6533740-6740-430B-A23C-9165098AA789}" type="parTrans" cxnId="{D7E2A703-D62F-41F5-993A-8A9B9E59F889}">
      <dgm:prSet/>
      <dgm:spPr/>
      <dgm:t>
        <a:bodyPr/>
        <a:lstStyle/>
        <a:p>
          <a:endParaRPr lang="en-NZ"/>
        </a:p>
      </dgm:t>
    </dgm:pt>
    <dgm:pt modelId="{FD4DC5CD-E600-4374-8493-5D97E8040CF6}" type="sibTrans" cxnId="{D7E2A703-D62F-41F5-993A-8A9B9E59F889}">
      <dgm:prSet/>
      <dgm:spPr/>
      <dgm:t>
        <a:bodyPr/>
        <a:lstStyle/>
        <a:p>
          <a:endParaRPr lang="en-NZ"/>
        </a:p>
      </dgm:t>
    </dgm:pt>
    <dgm:pt modelId="{4403ADD0-D5EF-4662-AC87-F7C644976B57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Expand Electronics Lines</a:t>
          </a:r>
          <a:endParaRPr lang="en-NZ" sz="1400" dirty="0"/>
        </a:p>
      </dgm:t>
    </dgm:pt>
    <dgm:pt modelId="{FB970665-A5A1-456F-804F-E5450DC31412}" type="parTrans" cxnId="{384F253F-CE4A-41C6-AD29-3FA03F5D958B}">
      <dgm:prSet/>
      <dgm:spPr/>
      <dgm:t>
        <a:bodyPr/>
        <a:lstStyle/>
        <a:p>
          <a:endParaRPr lang="en-NZ"/>
        </a:p>
      </dgm:t>
    </dgm:pt>
    <dgm:pt modelId="{41D9C34B-719A-41ED-83E1-E4CBA312CED3}" type="sibTrans" cxnId="{384F253F-CE4A-41C6-AD29-3FA03F5D958B}">
      <dgm:prSet/>
      <dgm:spPr/>
      <dgm:t>
        <a:bodyPr/>
        <a:lstStyle/>
        <a:p>
          <a:endParaRPr lang="en-NZ"/>
        </a:p>
      </dgm:t>
    </dgm:pt>
    <dgm:pt modelId="{4A0D9177-88B6-411D-B694-4C5010A7723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Leverage December peak</a:t>
          </a:r>
          <a:endParaRPr lang="en-NZ" sz="1400" dirty="0"/>
        </a:p>
      </dgm:t>
    </dgm:pt>
    <dgm:pt modelId="{E4B6D6A6-B99D-4C0F-8120-550C61FDDE7C}" type="parTrans" cxnId="{2FAB28FE-C897-4BE9-A8E4-35D70FC835B7}">
      <dgm:prSet/>
      <dgm:spPr/>
      <dgm:t>
        <a:bodyPr/>
        <a:lstStyle/>
        <a:p>
          <a:endParaRPr lang="en-NZ"/>
        </a:p>
      </dgm:t>
    </dgm:pt>
    <dgm:pt modelId="{62D7C35B-4F55-4B69-88F8-9F3C171138E1}" type="sibTrans" cxnId="{2FAB28FE-C897-4BE9-A8E4-35D70FC835B7}">
      <dgm:prSet/>
      <dgm:spPr/>
      <dgm:t>
        <a:bodyPr/>
        <a:lstStyle/>
        <a:p>
          <a:endParaRPr lang="en-NZ"/>
        </a:p>
      </dgm:t>
    </dgm:pt>
    <dgm:pt modelId="{320034C8-A217-44A5-ACAF-619D867878D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0" dirty="0"/>
            <a:t>Reduce Christmas dependency from 80% to 60% with new year lines</a:t>
          </a:r>
          <a:endParaRPr lang="en-NZ" sz="1400" dirty="0"/>
        </a:p>
      </dgm:t>
    </dgm:pt>
    <dgm:pt modelId="{46C6C411-2009-41A1-8AA2-88C4C33D527F}" type="parTrans" cxnId="{97F47E95-E260-45AD-B50A-958948D77D3A}">
      <dgm:prSet/>
      <dgm:spPr/>
      <dgm:t>
        <a:bodyPr/>
        <a:lstStyle/>
        <a:p>
          <a:endParaRPr lang="en-NZ"/>
        </a:p>
      </dgm:t>
    </dgm:pt>
    <dgm:pt modelId="{8850AF11-D20E-457A-A5C5-9CC14F580541}" type="sibTrans" cxnId="{97F47E95-E260-45AD-B50A-958948D77D3A}">
      <dgm:prSet/>
      <dgm:spPr/>
      <dgm:t>
        <a:bodyPr/>
        <a:lstStyle/>
        <a:p>
          <a:endParaRPr lang="en-NZ"/>
        </a:p>
      </dgm:t>
    </dgm:pt>
    <dgm:pt modelId="{8973FBAA-436E-4B6F-961D-74B5DE5C9862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June Performance Fix : Address annual low point in June with targeted promotions</a:t>
          </a:r>
          <a:endParaRPr lang="en-NZ" sz="1400" dirty="0"/>
        </a:p>
      </dgm:t>
    </dgm:pt>
    <dgm:pt modelId="{43072174-10FD-4685-B9BA-98859DD93CCB}" type="parTrans" cxnId="{51B65A61-51B3-491C-A79C-C27115F45B38}">
      <dgm:prSet/>
      <dgm:spPr/>
      <dgm:t>
        <a:bodyPr/>
        <a:lstStyle/>
        <a:p>
          <a:endParaRPr lang="en-NZ"/>
        </a:p>
      </dgm:t>
    </dgm:pt>
    <dgm:pt modelId="{F0B00567-7AA5-4B1F-9B51-96111CD056C1}" type="sibTrans" cxnId="{51B65A61-51B3-491C-A79C-C27115F45B38}">
      <dgm:prSet/>
      <dgm:spPr/>
      <dgm:t>
        <a:bodyPr/>
        <a:lstStyle/>
        <a:p>
          <a:endParaRPr lang="en-NZ"/>
        </a:p>
      </dgm:t>
    </dgm:pt>
    <dgm:pt modelId="{1C4FBF4D-369D-433A-8352-8F4E029C211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Market Expansion : Increase India market share from 15% to 18% via local campaigns</a:t>
          </a:r>
          <a:endParaRPr lang="en-NZ" sz="1400" dirty="0"/>
        </a:p>
      </dgm:t>
    </dgm:pt>
    <dgm:pt modelId="{7E46C1BA-393C-4564-83F8-0649AD573B4F}" type="parTrans" cxnId="{9C2EC165-ED3F-4E1C-9DBF-D2C4AB95B33C}">
      <dgm:prSet/>
      <dgm:spPr/>
      <dgm:t>
        <a:bodyPr/>
        <a:lstStyle/>
        <a:p>
          <a:endParaRPr lang="en-NZ"/>
        </a:p>
      </dgm:t>
    </dgm:pt>
    <dgm:pt modelId="{75209B3C-BFE2-4F92-B173-53ACA0BAE0CE}" type="sibTrans" cxnId="{9C2EC165-ED3F-4E1C-9DBF-D2C4AB95B33C}">
      <dgm:prSet/>
      <dgm:spPr/>
      <dgm:t>
        <a:bodyPr/>
        <a:lstStyle/>
        <a:p>
          <a:endParaRPr lang="en-NZ"/>
        </a:p>
      </dgm:t>
    </dgm:pt>
    <dgm:pt modelId="{1B8022CA-C671-4308-80D7-D853F85957C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Add 2-3 new tech products quarterly</a:t>
          </a:r>
          <a:endParaRPr lang="en-NZ" sz="1400" dirty="0"/>
        </a:p>
      </dgm:t>
    </dgm:pt>
    <dgm:pt modelId="{91A156E3-441A-46EF-9E19-717B0DC8B112}" type="parTrans" cxnId="{CD9B4C2F-F615-478D-9B64-4804A772412D}">
      <dgm:prSet/>
      <dgm:spPr/>
      <dgm:t>
        <a:bodyPr/>
        <a:lstStyle/>
        <a:p>
          <a:endParaRPr lang="en-NZ"/>
        </a:p>
      </dgm:t>
    </dgm:pt>
    <dgm:pt modelId="{325614CD-3B79-4F0D-B39A-977C4FE6AD9E}" type="sibTrans" cxnId="{CD9B4C2F-F615-478D-9B64-4804A772412D}">
      <dgm:prSet/>
      <dgm:spPr/>
      <dgm:t>
        <a:bodyPr/>
        <a:lstStyle/>
        <a:p>
          <a:endParaRPr lang="en-NZ"/>
        </a:p>
      </dgm:t>
    </dgm:pt>
    <dgm:pt modelId="{F15AD04B-F81D-491A-8E83-5B46D99778A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Extend holiday success to other months</a:t>
          </a:r>
          <a:endParaRPr lang="en-NZ" sz="1400" dirty="0"/>
        </a:p>
      </dgm:t>
    </dgm:pt>
    <dgm:pt modelId="{14D84217-FF5C-4D32-BD20-9FDE86FB9F92}" type="parTrans" cxnId="{20FEBFA4-5967-45F1-A426-EA2DB068D5A3}">
      <dgm:prSet/>
      <dgm:spPr/>
      <dgm:t>
        <a:bodyPr/>
        <a:lstStyle/>
        <a:p>
          <a:endParaRPr lang="en-NZ"/>
        </a:p>
      </dgm:t>
    </dgm:pt>
    <dgm:pt modelId="{B37F6B85-DB47-46A3-AA56-9BC7E6DA2DD6}" type="sibTrans" cxnId="{20FEBFA4-5967-45F1-A426-EA2DB068D5A3}">
      <dgm:prSet/>
      <dgm:spPr/>
      <dgm:t>
        <a:bodyPr/>
        <a:lstStyle/>
        <a:p>
          <a:endParaRPr lang="en-NZ"/>
        </a:p>
      </dgm:t>
    </dgm:pt>
    <dgm:pt modelId="{C94148C3-3EC9-40AC-B488-7EFDD2DA774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Scale Predictable Growth</a:t>
          </a:r>
          <a:endParaRPr lang="en-NZ" sz="1400" dirty="0"/>
        </a:p>
      </dgm:t>
    </dgm:pt>
    <dgm:pt modelId="{46A42964-8F8A-43FF-8693-3DFC898DBE2E}" type="parTrans" cxnId="{8CDF6217-1925-4C63-80E4-EECAA3847650}">
      <dgm:prSet/>
      <dgm:spPr/>
      <dgm:t>
        <a:bodyPr/>
        <a:lstStyle/>
        <a:p>
          <a:endParaRPr lang="en-NZ"/>
        </a:p>
      </dgm:t>
    </dgm:pt>
    <dgm:pt modelId="{E09EF8B1-F834-4886-BCA0-26652BC3D9AA}" type="sibTrans" cxnId="{8CDF6217-1925-4C63-80E4-EECAA3847650}">
      <dgm:prSet/>
      <dgm:spPr/>
      <dgm:t>
        <a:bodyPr/>
        <a:lstStyle/>
        <a:p>
          <a:endParaRPr lang="en-NZ"/>
        </a:p>
      </dgm:t>
    </dgm:pt>
    <dgm:pt modelId="{65B57109-C943-4CF9-8230-AA1212F264A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Maintain 11.77%+ YTD growth with quarterly reviews</a:t>
          </a:r>
          <a:endParaRPr lang="en-NZ" sz="1400" dirty="0"/>
        </a:p>
      </dgm:t>
    </dgm:pt>
    <dgm:pt modelId="{5E691260-9FBC-416F-AA65-6EC18D603BD5}" type="parTrans" cxnId="{E65B751E-3856-4108-BA8A-A33E92138DCE}">
      <dgm:prSet/>
      <dgm:spPr/>
      <dgm:t>
        <a:bodyPr/>
        <a:lstStyle/>
        <a:p>
          <a:endParaRPr lang="en-NZ"/>
        </a:p>
      </dgm:t>
    </dgm:pt>
    <dgm:pt modelId="{33597F30-49D8-418E-8FA0-985523CEBA7C}" type="sibTrans" cxnId="{E65B751E-3856-4108-BA8A-A33E92138DCE}">
      <dgm:prSet/>
      <dgm:spPr/>
      <dgm:t>
        <a:bodyPr/>
        <a:lstStyle/>
        <a:p>
          <a:endParaRPr lang="en-NZ"/>
        </a:p>
      </dgm:t>
    </dgm:pt>
    <dgm:pt modelId="{BE49C9E6-238B-4A23-AD20-0E90024796E2}" type="pres">
      <dgm:prSet presAssocID="{7C095FFD-ACF8-4990-A634-31CF34044E17}" presName="Name0" presStyleCnt="0">
        <dgm:presLayoutVars>
          <dgm:dir/>
          <dgm:animLvl val="lvl"/>
          <dgm:resizeHandles val="exact"/>
        </dgm:presLayoutVars>
      </dgm:prSet>
      <dgm:spPr/>
    </dgm:pt>
    <dgm:pt modelId="{A2892BCC-CFB7-4675-B884-CD2937C67049}" type="pres">
      <dgm:prSet presAssocID="{20B53316-B518-4A6F-B898-E18159303467}" presName="linNode" presStyleCnt="0"/>
      <dgm:spPr/>
    </dgm:pt>
    <dgm:pt modelId="{71F4A495-A75F-4DE9-AC09-ADE678F675FD}" type="pres">
      <dgm:prSet presAssocID="{20B53316-B518-4A6F-B898-E18159303467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EFCF7D2-FD8D-40A2-A01D-C8731613611E}" type="pres">
      <dgm:prSet presAssocID="{20B53316-B518-4A6F-B898-E18159303467}" presName="descendantText" presStyleLbl="alignAccFollowNode1" presStyleIdx="0" presStyleCnt="2">
        <dgm:presLayoutVars>
          <dgm:bulletEnabled val="1"/>
        </dgm:presLayoutVars>
      </dgm:prSet>
      <dgm:spPr/>
    </dgm:pt>
    <dgm:pt modelId="{14DC7452-0E99-4905-B37F-8BBAAA5E4EAF}" type="pres">
      <dgm:prSet presAssocID="{9F3E5F47-D33A-4FCC-A15B-759993D0199A}" presName="sp" presStyleCnt="0"/>
      <dgm:spPr/>
    </dgm:pt>
    <dgm:pt modelId="{57B7DEE2-52F3-4278-A600-589E3E39AF12}" type="pres">
      <dgm:prSet presAssocID="{EC4403D9-E4DA-4C09-9CB0-E1B8EE348ADF}" presName="linNode" presStyleCnt="0"/>
      <dgm:spPr/>
    </dgm:pt>
    <dgm:pt modelId="{748D76AA-109A-4642-AC91-63A30DFA3FFC}" type="pres">
      <dgm:prSet presAssocID="{EC4403D9-E4DA-4C09-9CB0-E1B8EE348AD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021D7ABB-FAB0-42DB-A19C-E648BCBA1FA2}" type="pres">
      <dgm:prSet presAssocID="{EC4403D9-E4DA-4C09-9CB0-E1B8EE348AD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D7E2A703-D62F-41F5-993A-8A9B9E59F889}" srcId="{7C095FFD-ACF8-4990-A634-31CF34044E17}" destId="{EC4403D9-E4DA-4C09-9CB0-E1B8EE348ADF}" srcOrd="1" destOrd="0" parTransId="{D6533740-6740-430B-A23C-9165098AA789}" sibTransId="{FD4DC5CD-E600-4374-8493-5D97E8040CF6}"/>
    <dgm:cxn modelId="{8CDF6217-1925-4C63-80E4-EECAA3847650}" srcId="{EC4403D9-E4DA-4C09-9CB0-E1B8EE348ADF}" destId="{C94148C3-3EC9-40AC-B488-7EFDD2DA774D}" srcOrd="4" destOrd="0" parTransId="{46A42964-8F8A-43FF-8693-3DFC898DBE2E}" sibTransId="{E09EF8B1-F834-4886-BCA0-26652BC3D9AA}"/>
    <dgm:cxn modelId="{7A393518-29FD-4F32-90DB-BF8E829354F7}" type="presOf" srcId="{8956E6B9-9FA0-4D44-9001-A890965155E8}" destId="{9EFCF7D2-FD8D-40A2-A01D-C8731613611E}" srcOrd="0" destOrd="1" presId="urn:microsoft.com/office/officeart/2005/8/layout/vList5"/>
    <dgm:cxn modelId="{8D8D4E1C-06EC-414D-A1DE-6EA01B69F5DB}" type="presOf" srcId="{1C4FBF4D-369D-433A-8352-8F4E029C211A}" destId="{9EFCF7D2-FD8D-40A2-A01D-C8731613611E}" srcOrd="0" destOrd="4" presId="urn:microsoft.com/office/officeart/2005/8/layout/vList5"/>
    <dgm:cxn modelId="{E65B751E-3856-4108-BA8A-A33E92138DCE}" srcId="{EC4403D9-E4DA-4C09-9CB0-E1B8EE348ADF}" destId="{65B57109-C943-4CF9-8230-AA1212F264A9}" srcOrd="5" destOrd="0" parTransId="{5E691260-9FBC-416F-AA65-6EC18D603BD5}" sibTransId="{33597F30-49D8-418E-8FA0-985523CEBA7C}"/>
    <dgm:cxn modelId="{D0F96D2B-F6C1-425C-BC95-3B18279C8142}" type="presOf" srcId="{8973FBAA-436E-4B6F-961D-74B5DE5C9862}" destId="{9EFCF7D2-FD8D-40A2-A01D-C8731613611E}" srcOrd="0" destOrd="3" presId="urn:microsoft.com/office/officeart/2005/8/layout/vList5"/>
    <dgm:cxn modelId="{CD9B4C2F-F615-478D-9B64-4804A772412D}" srcId="{EC4403D9-E4DA-4C09-9CB0-E1B8EE348ADF}" destId="{1B8022CA-C671-4308-80D7-D853F85957CF}" srcOrd="1" destOrd="0" parTransId="{91A156E3-441A-46EF-9E19-717B0DC8B112}" sibTransId="{325614CD-3B79-4F0D-B39A-977C4FE6AD9E}"/>
    <dgm:cxn modelId="{58A47038-527D-4F48-A9CE-BB15F024DA3C}" type="presOf" srcId="{320034C8-A217-44A5-ACAF-619D867878DA}" destId="{9EFCF7D2-FD8D-40A2-A01D-C8731613611E}" srcOrd="0" destOrd="2" presId="urn:microsoft.com/office/officeart/2005/8/layout/vList5"/>
    <dgm:cxn modelId="{384F253F-CE4A-41C6-AD29-3FA03F5D958B}" srcId="{EC4403D9-E4DA-4C09-9CB0-E1B8EE348ADF}" destId="{4403ADD0-D5EF-4662-AC87-F7C644976B57}" srcOrd="0" destOrd="0" parTransId="{FB970665-A5A1-456F-804F-E5450DC31412}" sibTransId="{41D9C34B-719A-41ED-83E1-E4CBA312CED3}"/>
    <dgm:cxn modelId="{17C7105C-C212-4294-B9C6-9BF9D61F50B3}" type="presOf" srcId="{65B57109-C943-4CF9-8230-AA1212F264A9}" destId="{021D7ABB-FAB0-42DB-A19C-E648BCBA1FA2}" srcOrd="0" destOrd="5" presId="urn:microsoft.com/office/officeart/2005/8/layout/vList5"/>
    <dgm:cxn modelId="{51B65A61-51B3-491C-A79C-C27115F45B38}" srcId="{0AC83401-DE4B-4682-8E07-32CEA406095B}" destId="{8973FBAA-436E-4B6F-961D-74B5DE5C9862}" srcOrd="2" destOrd="0" parTransId="{43072174-10FD-4685-B9BA-98859DD93CCB}" sibTransId="{F0B00567-7AA5-4B1F-9B51-96111CD056C1}"/>
    <dgm:cxn modelId="{9C2EC165-ED3F-4E1C-9DBF-D2C4AB95B33C}" srcId="{0AC83401-DE4B-4682-8E07-32CEA406095B}" destId="{1C4FBF4D-369D-433A-8352-8F4E029C211A}" srcOrd="3" destOrd="0" parTransId="{7E46C1BA-393C-4564-83F8-0649AD573B4F}" sibTransId="{75209B3C-BFE2-4F92-B173-53ACA0BAE0CE}"/>
    <dgm:cxn modelId="{E96A6D50-C28E-4622-95FB-B219842EAB08}" srcId="{7C095FFD-ACF8-4990-A634-31CF34044E17}" destId="{20B53316-B518-4A6F-B898-E18159303467}" srcOrd="0" destOrd="0" parTransId="{0E642077-6322-4748-A441-48B41E7E27CA}" sibTransId="{9F3E5F47-D33A-4FCC-A15B-759993D0199A}"/>
    <dgm:cxn modelId="{A9E59D58-927D-4BD8-A6AE-1298EE244724}" type="presOf" srcId="{7C095FFD-ACF8-4990-A634-31CF34044E17}" destId="{BE49C9E6-238B-4A23-AD20-0E90024796E2}" srcOrd="0" destOrd="0" presId="urn:microsoft.com/office/officeart/2005/8/layout/vList5"/>
    <dgm:cxn modelId="{97F47E95-E260-45AD-B50A-958948D77D3A}" srcId="{0AC83401-DE4B-4682-8E07-32CEA406095B}" destId="{320034C8-A217-44A5-ACAF-619D867878DA}" srcOrd="1" destOrd="0" parTransId="{46C6C411-2009-41A1-8AA2-88C4C33D527F}" sibTransId="{8850AF11-D20E-457A-A5C5-9CC14F580541}"/>
    <dgm:cxn modelId="{E5D4B29F-ED15-4122-93DC-0C204197E1CF}" type="presOf" srcId="{C94148C3-3EC9-40AC-B488-7EFDD2DA774D}" destId="{021D7ABB-FAB0-42DB-A19C-E648BCBA1FA2}" srcOrd="0" destOrd="4" presId="urn:microsoft.com/office/officeart/2005/8/layout/vList5"/>
    <dgm:cxn modelId="{B8CB64A1-BB3E-4A7B-AAAF-0923E2099B78}" type="presOf" srcId="{4403ADD0-D5EF-4662-AC87-F7C644976B57}" destId="{021D7ABB-FAB0-42DB-A19C-E648BCBA1FA2}" srcOrd="0" destOrd="0" presId="urn:microsoft.com/office/officeart/2005/8/layout/vList5"/>
    <dgm:cxn modelId="{20FEBFA4-5967-45F1-A426-EA2DB068D5A3}" srcId="{EC4403D9-E4DA-4C09-9CB0-E1B8EE348ADF}" destId="{F15AD04B-F81D-491A-8E83-5B46D99778AD}" srcOrd="3" destOrd="0" parTransId="{14D84217-FF5C-4D32-BD20-9FDE86FB9F92}" sibTransId="{B37F6B85-DB47-46A3-AA56-9BC7E6DA2DD6}"/>
    <dgm:cxn modelId="{45651FAB-F372-45A0-9DED-D9CF3551553B}" type="presOf" srcId="{0AC83401-DE4B-4682-8E07-32CEA406095B}" destId="{9EFCF7D2-FD8D-40A2-A01D-C8731613611E}" srcOrd="0" destOrd="0" presId="urn:microsoft.com/office/officeart/2005/8/layout/vList5"/>
    <dgm:cxn modelId="{6AFBDEB2-86FF-4A1C-9C7E-A45C05275308}" srcId="{0AC83401-DE4B-4682-8E07-32CEA406095B}" destId="{8956E6B9-9FA0-4D44-9001-A890965155E8}" srcOrd="0" destOrd="0" parTransId="{2FFFEF8C-68C4-41B4-94A1-CF20BE71E298}" sibTransId="{CC0A4145-A2CD-4CE0-9520-FF56DA589A76}"/>
    <dgm:cxn modelId="{3CA106C4-3E85-4389-8D40-25F1D17F0A89}" type="presOf" srcId="{1B8022CA-C671-4308-80D7-D853F85957CF}" destId="{021D7ABB-FAB0-42DB-A19C-E648BCBA1FA2}" srcOrd="0" destOrd="1" presId="urn:microsoft.com/office/officeart/2005/8/layout/vList5"/>
    <dgm:cxn modelId="{CE1936C4-B676-4391-B904-5F390B054BA3}" type="presOf" srcId="{F15AD04B-F81D-491A-8E83-5B46D99778AD}" destId="{021D7ABB-FAB0-42DB-A19C-E648BCBA1FA2}" srcOrd="0" destOrd="3" presId="urn:microsoft.com/office/officeart/2005/8/layout/vList5"/>
    <dgm:cxn modelId="{2CD708E6-01C2-4065-A941-22037802CB23}" type="presOf" srcId="{20B53316-B518-4A6F-B898-E18159303467}" destId="{71F4A495-A75F-4DE9-AC09-ADE678F675FD}" srcOrd="0" destOrd="0" presId="urn:microsoft.com/office/officeart/2005/8/layout/vList5"/>
    <dgm:cxn modelId="{4B6F4CEE-57BD-4C7F-B8DA-BC8215F1C564}" srcId="{20B53316-B518-4A6F-B898-E18159303467}" destId="{0AC83401-DE4B-4682-8E07-32CEA406095B}" srcOrd="0" destOrd="0" parTransId="{7DE189DD-324A-4C8A-BE16-95950FEEA729}" sibTransId="{4E0E49BE-0F74-4CF7-A562-1F529E081000}"/>
    <dgm:cxn modelId="{96FFE2F7-377B-4E54-8067-9A2E092897D2}" type="presOf" srcId="{EC4403D9-E4DA-4C09-9CB0-E1B8EE348ADF}" destId="{748D76AA-109A-4642-AC91-63A30DFA3FFC}" srcOrd="0" destOrd="0" presId="urn:microsoft.com/office/officeart/2005/8/layout/vList5"/>
    <dgm:cxn modelId="{8FE3B3F9-6C2B-4272-92FD-FF45F1840218}" type="presOf" srcId="{4A0D9177-88B6-411D-B694-4C5010A77236}" destId="{021D7ABB-FAB0-42DB-A19C-E648BCBA1FA2}" srcOrd="0" destOrd="2" presId="urn:microsoft.com/office/officeart/2005/8/layout/vList5"/>
    <dgm:cxn modelId="{2FAB28FE-C897-4BE9-A8E4-35D70FC835B7}" srcId="{EC4403D9-E4DA-4C09-9CB0-E1B8EE348ADF}" destId="{4A0D9177-88B6-411D-B694-4C5010A77236}" srcOrd="2" destOrd="0" parTransId="{E4B6D6A6-B99D-4C0F-8120-550C61FDDE7C}" sibTransId="{62D7C35B-4F55-4B69-88F8-9F3C171138E1}"/>
    <dgm:cxn modelId="{36960695-2355-47A9-99F7-4FCB22E20FA2}" type="presParOf" srcId="{BE49C9E6-238B-4A23-AD20-0E90024796E2}" destId="{A2892BCC-CFB7-4675-B884-CD2937C67049}" srcOrd="0" destOrd="0" presId="urn:microsoft.com/office/officeart/2005/8/layout/vList5"/>
    <dgm:cxn modelId="{5EB7D132-4E84-4C82-B3AC-23152B6893AF}" type="presParOf" srcId="{A2892BCC-CFB7-4675-B884-CD2937C67049}" destId="{71F4A495-A75F-4DE9-AC09-ADE678F675FD}" srcOrd="0" destOrd="0" presId="urn:microsoft.com/office/officeart/2005/8/layout/vList5"/>
    <dgm:cxn modelId="{8F75CE05-91EE-4E5B-9D5D-89EBE297A424}" type="presParOf" srcId="{A2892BCC-CFB7-4675-B884-CD2937C67049}" destId="{9EFCF7D2-FD8D-40A2-A01D-C8731613611E}" srcOrd="1" destOrd="0" presId="urn:microsoft.com/office/officeart/2005/8/layout/vList5"/>
    <dgm:cxn modelId="{CCB1BC0E-A541-431D-8A1E-A437A26F881F}" type="presParOf" srcId="{BE49C9E6-238B-4A23-AD20-0E90024796E2}" destId="{14DC7452-0E99-4905-B37F-8BBAAA5E4EAF}" srcOrd="1" destOrd="0" presId="urn:microsoft.com/office/officeart/2005/8/layout/vList5"/>
    <dgm:cxn modelId="{52E8120E-69FF-4574-B57D-5AEA9CE5F761}" type="presParOf" srcId="{BE49C9E6-238B-4A23-AD20-0E90024796E2}" destId="{57B7DEE2-52F3-4278-A600-589E3E39AF12}" srcOrd="2" destOrd="0" presId="urn:microsoft.com/office/officeart/2005/8/layout/vList5"/>
    <dgm:cxn modelId="{E2619521-2256-47DB-8F25-DD09233E3A9D}" type="presParOf" srcId="{57B7DEE2-52F3-4278-A600-589E3E39AF12}" destId="{748D76AA-109A-4642-AC91-63A30DFA3FFC}" srcOrd="0" destOrd="0" presId="urn:microsoft.com/office/officeart/2005/8/layout/vList5"/>
    <dgm:cxn modelId="{DC58A5DF-3427-40DA-A90C-E8CDFD158EBC}" type="presParOf" srcId="{57B7DEE2-52F3-4278-A600-589E3E39AF12}" destId="{021D7ABB-FAB0-42DB-A19C-E648BCBA1FA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FCF7D2-FD8D-40A2-A01D-C8731613611E}">
      <dsp:nvSpPr>
        <dsp:cNvPr id="0" name=""/>
        <dsp:cNvSpPr/>
      </dsp:nvSpPr>
      <dsp:spPr>
        <a:xfrm rot="5400000">
          <a:off x="5700550" y="-1999143"/>
          <a:ext cx="1753664" cy="61904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Immediate Actions – Primary Turnaround Initiative</a:t>
          </a:r>
          <a:endParaRPr lang="en-NZ" sz="1400" kern="1200" dirty="0"/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 dirty="0"/>
            <a:t>Product Diversification</a:t>
          </a:r>
          <a:endParaRPr lang="en-NZ" sz="1400" kern="1200" dirty="0"/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 dirty="0"/>
            <a:t>Reduce Christmas dependency from 80% to 60% with new year lines</a:t>
          </a:r>
          <a:endParaRPr lang="en-NZ" sz="1400" kern="1200" dirty="0"/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June Performance Fix : Address annual low point in June with targeted promotions</a:t>
          </a:r>
          <a:endParaRPr lang="en-NZ" sz="1400" kern="1200" dirty="0"/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Market Expansion : Increase India market share from 15% to 18% via local campaigns</a:t>
          </a:r>
          <a:endParaRPr lang="en-NZ" sz="1400" kern="1200" dirty="0"/>
        </a:p>
      </dsp:txBody>
      <dsp:txXfrm rot="-5400000">
        <a:off x="3482144" y="304870"/>
        <a:ext cx="6104871" cy="1582450"/>
      </dsp:txXfrm>
    </dsp:sp>
    <dsp:sp modelId="{71F4A495-A75F-4DE9-AC09-ADE678F675FD}">
      <dsp:nvSpPr>
        <dsp:cNvPr id="0" name=""/>
        <dsp:cNvSpPr/>
      </dsp:nvSpPr>
      <dsp:spPr>
        <a:xfrm>
          <a:off x="0" y="54"/>
          <a:ext cx="3482143" cy="219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Primary Recommendations</a:t>
          </a:r>
          <a:endParaRPr lang="en-NZ" sz="2600" kern="1200" dirty="0"/>
        </a:p>
      </dsp:txBody>
      <dsp:txXfrm>
        <a:off x="107009" y="107063"/>
        <a:ext cx="3268125" cy="1978062"/>
      </dsp:txXfrm>
    </dsp:sp>
    <dsp:sp modelId="{021D7ABB-FAB0-42DB-A19C-E648BCBA1FA2}">
      <dsp:nvSpPr>
        <dsp:cNvPr id="0" name=""/>
        <dsp:cNvSpPr/>
      </dsp:nvSpPr>
      <dsp:spPr>
        <a:xfrm rot="5400000">
          <a:off x="5700550" y="302540"/>
          <a:ext cx="1753664" cy="61904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Expand Electronics Lines</a:t>
          </a:r>
          <a:endParaRPr lang="en-NZ" sz="140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Add 2-3 new tech products quarterly</a:t>
          </a:r>
          <a:endParaRPr lang="en-NZ" sz="140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Leverage December peak</a:t>
          </a:r>
          <a:endParaRPr lang="en-NZ" sz="140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Extend holiday success to other months</a:t>
          </a:r>
          <a:endParaRPr lang="en-NZ" sz="140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Scale Predictable Growth</a:t>
          </a:r>
          <a:endParaRPr lang="en-NZ" sz="140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Maintain 11.77%+ YTD growth with quarterly reviews</a:t>
          </a:r>
          <a:endParaRPr lang="en-NZ" sz="1400" kern="1200" dirty="0"/>
        </a:p>
      </dsp:txBody>
      <dsp:txXfrm rot="-5400000">
        <a:off x="3482144" y="2606554"/>
        <a:ext cx="6104871" cy="1582450"/>
      </dsp:txXfrm>
    </dsp:sp>
    <dsp:sp modelId="{748D76AA-109A-4642-AC91-63A30DFA3FFC}">
      <dsp:nvSpPr>
        <dsp:cNvPr id="0" name=""/>
        <dsp:cNvSpPr/>
      </dsp:nvSpPr>
      <dsp:spPr>
        <a:xfrm>
          <a:off x="0" y="2301739"/>
          <a:ext cx="3482143" cy="2192080"/>
        </a:xfrm>
        <a:prstGeom prst="roundRect">
          <a:avLst/>
        </a:prstGeom>
        <a:solidFill>
          <a:srgbClr val="F2C23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Secondary Recommendations</a:t>
          </a:r>
          <a:endParaRPr lang="en-NZ" sz="2600" kern="1200"/>
        </a:p>
      </dsp:txBody>
      <dsp:txXfrm>
        <a:off x="107009" y="2408748"/>
        <a:ext cx="3268125" cy="1978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230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A53A-6EC4-E029-55EE-6707EFFEA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BDDF6-6B22-8E40-D114-D0EDC8C86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1E2F-E739-7E7E-D2D6-DEBEE956B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C0EEE-6BAB-36D2-2906-12447975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C52EF-97F0-656A-5674-4493CB02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11F8951-3A24-18A1-021E-3C334D255692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C90FD835-CCEA-DCCB-160E-C61800A5C2F0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5C593E-F67D-9F64-6269-C66BB470A3B6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">
            <a:extLst>
              <a:ext uri="{FF2B5EF4-FFF2-40B4-BE49-F238E27FC236}">
                <a16:creationId xmlns:a16="http://schemas.microsoft.com/office/drawing/2014/main" id="{39C677E2-DD9F-ED7C-C4FE-6435FC95F65F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8C743779-ACEE-E534-E0C0-18CE086399A8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680E612E-0900-5909-143F-152C1831ED4A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590FB40-AE0C-B6E1-9EC6-B9679919D9ED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032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B75D-E62C-C024-CECF-296198B7C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7DA7-CAB6-471F-C7AA-491928252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ACD94-32B3-6A51-C54F-0B74D2A0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DB72D-7B67-5AB4-AB6E-3D7B0C09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CCD24-4AF1-BAA9-53CA-A1A8A30B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F0A2196F-9622-ECC2-0BEC-979E60A371B3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8">
            <a:extLst>
              <a:ext uri="{FF2B5EF4-FFF2-40B4-BE49-F238E27FC236}">
                <a16:creationId xmlns:a16="http://schemas.microsoft.com/office/drawing/2014/main" id="{68786482-4B66-CB87-9F30-387C7F01A704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4F50B7DB-0D2F-D29D-5306-0A98DC069A8A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31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3646-A430-BE03-FB97-9AC53F4D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13C48-B2C9-72A0-1917-795E8A819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841C-EE6B-AE76-DFE7-62F71AF6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8E1D1-6D7D-992D-4DBB-D18EB12D7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11713-F948-594D-C2FB-9BB65498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CA7D21BB-2335-F60D-57D5-6F5DEBABB8B2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0A6A3006-6173-0333-1013-825D9B48FE7C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F4F9586F-DD6F-B155-A059-8B63247EAAC6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672C293-A94C-E28C-53E6-BDE0455B1EED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FC686F-A42F-446A-7FB5-8898A5E4DF75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09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C7121-2A4B-F2EE-F2BF-83AD176B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25241-54D9-BDA9-653C-A2074F77A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9862C-3362-BD3B-A50D-85115C655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D0B87-394C-FA7D-3313-88C32DDAB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C3282-AC82-FE9B-B7B2-63BBF6AF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8DDB5-0920-B5A0-3102-236B242E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78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4593E-BBD2-5711-FD5F-469475AD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1FBEC-EAFB-267A-FB46-10957AB61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F39C5-11D2-1AA6-DA3E-0168BC522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A84C13-6056-4523-0B18-1FE880BC3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372522-7ED9-DFA6-A5F2-FDF368EA4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DCA7B-6D3E-D3AB-0502-196EED03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C92DE7-86CD-22FF-48B5-A78A5F3F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3A191-ACD1-53F6-6561-E8EEDF596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D024DD3-D762-3031-DE10-3272A2F0E8BD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CC1BD4A-B1DB-F938-C5AD-9CA55CF4DB91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D555A56C-5577-590C-19B1-3E1605ADD340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07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7526-113A-D481-5D3B-6B29E6669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F6E3D-9A7F-74A3-24C6-A312F65B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8E1BB-457D-80FA-1839-B77DFF26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552A5-314F-29CD-37E4-D7698B45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53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7236F-D54D-EB1F-8A4A-61B9E895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8202F-EEC6-4B98-B759-E0EB62CA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1093D-C86E-7D0E-3B2A-12B9D1CF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34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37AE-730E-C557-6506-C26AA3DA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21BB-84C1-F6A9-5AC4-E15D9671D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A74A2-1DCB-D4F2-2FDB-A2D69D2CC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643C9-7F3D-5C3D-191C-C238636D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E0F52-55BB-174C-C17B-6F609A1D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7C39A-3B71-6CCE-9779-DE744E526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750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E37D-414C-4684-A522-548B1085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B9BE3-5031-8BD2-D3F9-9B8E6B632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5A6DF-5ACB-05C9-61E1-2D7017E58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09BE2-C82C-70C8-79B3-5F94F097B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5CB16-5279-17CE-3EF6-8EDD8857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C8ED7-9F7A-D9BF-5E0C-E6AEBE2CB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770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27B8-F6BC-504C-D7B8-32A06CD9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28868-7EEE-E2DC-FBB8-98B938523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C26BD-52B0-1F97-0CA2-74162291F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232A4-38B8-5637-2665-4F4F2AD3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B908B-E983-41A1-D591-7AC37BAD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62514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267BC3-E803-D14A-1535-8CDBBCEAD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EF13B-E3ED-238F-F100-83830905F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2A47-3D1F-1DCD-BD46-BB1D3F53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39025-8E58-FB27-420C-1A8EA052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CBC1-1345-BD2D-60BC-89375AAA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50248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A2574-F0BF-2B32-CD21-477187916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7146D-0BB0-AA16-8D74-FAF545F14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86A6E-77F5-F8F0-4B13-50E5F49CD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6B630-A851-38FC-830E-1D7FA29A6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327B5-6694-4F76-CAC7-4309EDA87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1235DD-9B3B-64B3-ED6F-F70ACCA5978E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294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670" r:id="rId12"/>
    <p:sldLayoutId id="2147483669" r:id="rId13"/>
    <p:sldLayoutId id="2147483666" r:id="rId14"/>
    <p:sldLayoutId id="2147483667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4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6266" y="1479759"/>
            <a:ext cx="8239468" cy="20559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Sales Performance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</a:t>
            </a:r>
            <a: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nalysis</a:t>
            </a:r>
            <a:b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</a:br>
            <a:b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</a:br>
            <a: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 Comparative study of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</a:t>
            </a:r>
            <a: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rimary &amp; Secondary dataset</a:t>
            </a:r>
            <a:b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</a:br>
            <a:b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</a:br>
            <a: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Analysis Period: January 2015 – December 2018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AFF85-00E5-B5C1-FF25-C4776616A1C1}"/>
              </a:ext>
            </a:extLst>
          </p:cNvPr>
          <p:cNvSpPr txBox="1"/>
          <p:nvPr/>
        </p:nvSpPr>
        <p:spPr>
          <a:xfrm>
            <a:off x="7115718" y="4508108"/>
            <a:ext cx="3342640" cy="1916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Compiled  by 25FT – G2 :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Bushra Khan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Perpetual Rodrigues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Mosiana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Atiola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3D4E04-7D3F-DCD7-30F2-C0030A39B51C}"/>
              </a:ext>
            </a:extLst>
          </p:cNvPr>
          <p:cNvSpPr txBox="1"/>
          <p:nvPr/>
        </p:nvSpPr>
        <p:spPr>
          <a:xfrm>
            <a:off x="2099823" y="435174"/>
            <a:ext cx="6955687" cy="64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MISSION X</a:t>
            </a:r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7B39E0C1-0827-1B1C-6707-17410CBCF1A7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40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1" name="Diagonal Stripe 40">
            <a:extLst>
              <a:ext uri="{FF2B5EF4-FFF2-40B4-BE49-F238E27FC236}">
                <a16:creationId xmlns:a16="http://schemas.microsoft.com/office/drawing/2014/main" id="{ABDAA90C-326F-1BC1-FABB-20B284C813F0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40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4B05C044-8E0E-FCB2-3A0F-D2D6E3F64E04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40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3" name="Diagonal Stripe 42">
            <a:extLst>
              <a:ext uri="{FF2B5EF4-FFF2-40B4-BE49-F238E27FC236}">
                <a16:creationId xmlns:a16="http://schemas.microsoft.com/office/drawing/2014/main" id="{A4FC0A55-CD0D-2DAE-8CBD-49EF76811674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40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332" y="383408"/>
            <a:ext cx="4992428" cy="696223"/>
          </a:xfrm>
        </p:spPr>
        <p:txBody>
          <a:bodyPr>
            <a:normAutofit/>
          </a:bodyPr>
          <a:lstStyle/>
          <a:p>
            <a:pPr algn="ctr"/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CONTENTS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9485" y="1175668"/>
            <a:ext cx="7187383" cy="4851112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2" action="ppaction://hlinksldjump"/>
              </a:rPr>
              <a:t>Executive Summary 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3" action="ppaction://hlinksldjump"/>
              </a:rPr>
              <a:t>Introduction &amp; Objectives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4" action="ppaction://hlinksldjump"/>
              </a:rPr>
              <a:t>Data Source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5" action="ppaction://hlinksldjump"/>
              </a:rPr>
              <a:t>Methodology 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6" action="ppaction://hlinksldjump"/>
              </a:rPr>
              <a:t>Dashboard Overview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7" action="ppaction://hlinksldjump"/>
              </a:rPr>
              <a:t>Primary Sales Performance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8" action="ppaction://hlinksldjump"/>
              </a:rPr>
              <a:t>Secondary Sales Performance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9" action="ppaction://hlinksldjump"/>
              </a:rPr>
              <a:t>Product Performance Analysis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10" action="ppaction://hlinksldjump"/>
              </a:rPr>
              <a:t>Regional Performance Analysis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11" action="ppaction://hlinksldjump"/>
              </a:rPr>
              <a:t>Time Intelligence Analysis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12" action="ppaction://hlinksldjump"/>
              </a:rPr>
              <a:t>90-Day Forecast Analysis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13" action="ppaction://hlinksldjump"/>
              </a:rPr>
              <a:t>Conclusions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14" action="ppaction://hlinksldjump"/>
              </a:rPr>
              <a:t>Recommendations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cs typeface="Segoe UI Light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5AF4C19D-B2DC-6835-801F-AFBFBC5C8D44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EC6CBA7-6E65-98B0-B00A-43B4A900B23E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7B29DF7B-96CA-49EE-B96E-884115FDF9E1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EBA43148-A44D-B72F-EA53-8BBF86BDCA51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369" y="468841"/>
            <a:ext cx="6322142" cy="736088"/>
          </a:xfrm>
        </p:spPr>
        <p:txBody>
          <a:bodyPr anchor="b">
            <a:noAutofit/>
          </a:bodyPr>
          <a:lstStyle/>
          <a:p>
            <a:pPr algn="ctr"/>
            <a:r>
              <a:rPr lang="en-US" sz="4000" b="1" dirty="0"/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962" y="1128323"/>
            <a:ext cx="9660194" cy="4568545"/>
          </a:xfrm>
        </p:spPr>
        <p:txBody>
          <a:bodyPr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This report compares sales performance using two independent datasets (Primary &amp; Secondary) from 2015-2018 to guide strategic decision-making.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b="1" dirty="0"/>
              <a:t>Key Insights</a:t>
            </a:r>
            <a:r>
              <a:rPr lang="en-US" sz="1400" dirty="0"/>
              <a:t> :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Primary Dataset shows a smaller, declining operation with $1.9m in sales (a 1.09% decrease). It is highly concentrated in the UK (92.9%) and peaks seasonally in July.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Secondary Dataset is the growth engine, with $14m in sales – over 7 times larger than Primary. It is globally diversified, with strong sales in the US, China &amp; UK and peaks in December.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The core insight is a major scale disparity. Secondary operates at a much larger volume and is growing, while Primary is smaller and declining.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b="1" dirty="0"/>
              <a:t>Recommendations</a:t>
            </a:r>
            <a:r>
              <a:rPr lang="en-US" sz="1400" dirty="0"/>
              <a:t>: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Follow a two-part strategy.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Stabilize the Primary business by optimizing its seasonal European focus to reverse its decline.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Accelerate the Secondary business by scaling its successful electronics and global model, targeting 15% growth in 2019.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3BD934-9B9C-D71F-EC4D-4E338963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C1FBC973-274C-118E-2C79-89BB82B27CC4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41227007-70D8-EC9C-C7F9-C7362EEDE819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239ABDD1-653C-A328-C988-0998A7686A30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A320F5D5-2618-8E64-6912-9438D46E3F3A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2E55DC-B6A7-6379-F051-6B62CC50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E24D-5F18-5C9A-20C0-B192DAC2A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2716" y="347066"/>
            <a:ext cx="8013290" cy="873203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INTRODUCTION &amp;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CFD3F-C07F-58FC-19D5-154436571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7061" y="1065684"/>
            <a:ext cx="8640267" cy="4726632"/>
          </a:xfrm>
        </p:spPr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/>
              <a:t>Project Background: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Mission X is a sales performance analysis comparing two independent business units over the same period (2015-2018) to identify improvement opportunities.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/>
              <a:t>Analytical Objectives: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Compare performance across Primary &amp; Secondary datasets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Identify root causes of Primary’s decline vs. Secondary’s growth in sales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Forecast 90-day performance using historical trends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Provide strategic recommendations</a:t>
            </a:r>
          </a:p>
          <a:p>
            <a:pPr algn="just">
              <a:lnSpc>
                <a:spcPct val="150000"/>
              </a:lnSpc>
            </a:pPr>
            <a:r>
              <a:rPr lang="en-US" sz="1600" b="1" dirty="0"/>
              <a:t>Scope &amp; Limitations: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Time period: 2015-2018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Data – Complete transactional records for both datasets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Limitations – independent datasets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66BCFA0D-0E99-2F20-D94A-8A5EDBEFA5A1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3A04D9DE-41CE-A80E-6639-796C5A4D6460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AB5F28DA-FF4E-5EF1-DBA8-0BFF8082D35B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0C7B61CB-02E0-A1E9-12C2-FFA8E97534B1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165DA21-91BA-31CF-A48D-8E726577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01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5CA395-A107-6A5C-FC4C-67B3A82F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4742-053A-FCF0-AB15-13569B24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877" y="651275"/>
            <a:ext cx="4147984" cy="764471"/>
          </a:xfrm>
        </p:spPr>
        <p:txBody>
          <a:bodyPr anchor="b">
            <a:noAutofit/>
          </a:bodyPr>
          <a:lstStyle/>
          <a:p>
            <a:pPr algn="ctr"/>
            <a:r>
              <a:rPr lang="en-US" sz="4000" b="1" dirty="0"/>
              <a:t>DATA SOURCE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C87EBF6-9A9D-89E1-1218-1B71BFC0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FDC336-A68B-4EDE-BCD7-9652DB8D6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573665"/>
              </p:ext>
            </p:extLst>
          </p:nvPr>
        </p:nvGraphicFramePr>
        <p:xfrm>
          <a:off x="2884931" y="2196198"/>
          <a:ext cx="6422137" cy="3198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287">
                  <a:extLst>
                    <a:ext uri="{9D8B030D-6E8A-4147-A177-3AD203B41FA5}">
                      <a16:colId xmlns:a16="http://schemas.microsoft.com/office/drawing/2014/main" val="1965321963"/>
                    </a:ext>
                  </a:extLst>
                </a:gridCol>
                <a:gridCol w="2628750">
                  <a:extLst>
                    <a:ext uri="{9D8B030D-6E8A-4147-A177-3AD203B41FA5}">
                      <a16:colId xmlns:a16="http://schemas.microsoft.com/office/drawing/2014/main" val="986512428"/>
                    </a:ext>
                  </a:extLst>
                </a:gridCol>
                <a:gridCol w="2163100">
                  <a:extLst>
                    <a:ext uri="{9D8B030D-6E8A-4147-A177-3AD203B41FA5}">
                      <a16:colId xmlns:a16="http://schemas.microsoft.com/office/drawing/2014/main" val="3521407552"/>
                    </a:ext>
                  </a:extLst>
                </a:gridCol>
              </a:tblGrid>
              <a:tr h="533127">
                <a:tc>
                  <a:txBody>
                    <a:bodyPr/>
                    <a:lstStyle/>
                    <a:p>
                      <a:r>
                        <a:rPr lang="en-NZ" sz="2400" dirty="0"/>
                        <a:t>Dataset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 dirty="0"/>
                        <a:t>Primary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 dirty="0"/>
                        <a:t>Secondary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2431137214"/>
                  </a:ext>
                </a:extLst>
              </a:tr>
              <a:tr h="533127">
                <a:tc>
                  <a:txBody>
                    <a:bodyPr/>
                    <a:lstStyle/>
                    <a:p>
                      <a:r>
                        <a:rPr lang="en-NZ" sz="2400"/>
                        <a:t>Source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Mission X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E-commerce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3340552540"/>
                  </a:ext>
                </a:extLst>
              </a:tr>
              <a:tr h="533127">
                <a:tc>
                  <a:txBody>
                    <a:bodyPr/>
                    <a:lstStyle/>
                    <a:p>
                      <a:r>
                        <a:rPr lang="en-NZ" sz="2400"/>
                        <a:t>Period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2015-2018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2015-2018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1274813978"/>
                  </a:ext>
                </a:extLst>
              </a:tr>
              <a:tr h="533127">
                <a:tc>
                  <a:txBody>
                    <a:bodyPr/>
                    <a:lstStyle/>
                    <a:p>
                      <a:r>
                        <a:rPr lang="en-NZ" sz="2400"/>
                        <a:t>Sales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$1.9m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$14m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3954577231"/>
                  </a:ext>
                </a:extLst>
              </a:tr>
              <a:tr h="533127">
                <a:tc>
                  <a:txBody>
                    <a:bodyPr/>
                    <a:lstStyle/>
                    <a:p>
                      <a:r>
                        <a:rPr lang="en-NZ" sz="2400"/>
                        <a:t>Products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Christmas items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Electronics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4039349382"/>
                  </a:ext>
                </a:extLst>
              </a:tr>
              <a:tr h="533127">
                <a:tc>
                  <a:txBody>
                    <a:bodyPr/>
                    <a:lstStyle/>
                    <a:p>
                      <a:r>
                        <a:rPr lang="en-NZ" sz="2400"/>
                        <a:t>Markets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Europe-focused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 dirty="0"/>
                        <a:t>Global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512633202"/>
                  </a:ext>
                </a:extLst>
              </a:tr>
            </a:tbl>
          </a:graphicData>
        </a:graphic>
      </p:graphicFrame>
      <p:sp>
        <p:nvSpPr>
          <p:cNvPr id="3" name="Right Triangle 2">
            <a:extLst>
              <a:ext uri="{FF2B5EF4-FFF2-40B4-BE49-F238E27FC236}">
                <a16:creationId xmlns:a16="http://schemas.microsoft.com/office/drawing/2014/main" id="{29E380BE-E81C-5F42-7BF5-8725F2571FCE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284C1C4-EA40-324F-0B71-C169828744D2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50D55393-82C7-A0DA-F124-EC392C6FF882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F63A982B-CC35-A8BF-1185-929593D2074B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719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0007BD-B526-2107-5D73-37C805264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5857-DB2B-D6BA-F44A-8257D786E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451" y="497919"/>
            <a:ext cx="4944397" cy="677749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/>
              <a:t>METHODOLOGY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28284D14-A37E-558E-490B-5ACB69BDF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5992" y="1247657"/>
            <a:ext cx="6262304" cy="5364331"/>
          </a:xfrm>
        </p:spPr>
        <p:txBody>
          <a:bodyPr anchor="ctr">
            <a:noAutofit/>
          </a:bodyPr>
          <a:lstStyle/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Processing</a:t>
            </a:r>
            <a:r>
              <a:rPr lang="en-US" sz="1400" dirty="0"/>
              <a:t>: </a:t>
            </a:r>
          </a:p>
          <a:p>
            <a:pPr marL="628650" lvl="1" indent="-171450" algn="just">
              <a:lnSpc>
                <a:spcPct val="100000"/>
              </a:lnSpc>
            </a:pPr>
            <a:r>
              <a:rPr lang="en-US" sz="1400" dirty="0"/>
              <a:t>Each dataset cleaned independently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Analysis</a:t>
            </a:r>
            <a:r>
              <a:rPr lang="en-US" sz="1400" dirty="0"/>
              <a:t>: </a:t>
            </a:r>
          </a:p>
          <a:p>
            <a:pPr marL="628650" lvl="1" indent="-171450" algn="just">
              <a:lnSpc>
                <a:spcPct val="100000"/>
              </a:lnSpc>
            </a:pPr>
            <a:r>
              <a:rPr lang="en-US" sz="1400" dirty="0"/>
              <a:t>Side-by-side comparative evaluation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Validation</a:t>
            </a:r>
            <a:r>
              <a:rPr lang="en-US" sz="1400" dirty="0"/>
              <a:t>: </a:t>
            </a:r>
          </a:p>
          <a:p>
            <a:pPr marL="628650" lvl="1" indent="-171450" algn="just">
              <a:lnSpc>
                <a:spcPct val="100000"/>
              </a:lnSpc>
            </a:pPr>
            <a:r>
              <a:rPr lang="en-US" sz="1400" dirty="0"/>
              <a:t>Cross-dataset trend confirmation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Visualization</a:t>
            </a:r>
            <a:r>
              <a:rPr lang="en-US" sz="1400" dirty="0"/>
              <a:t>: </a:t>
            </a:r>
          </a:p>
          <a:p>
            <a:pPr marL="628650" lvl="1" indent="-171450" algn="just">
              <a:lnSpc>
                <a:spcPct val="100000"/>
              </a:lnSpc>
            </a:pPr>
            <a:r>
              <a:rPr lang="en-US" sz="1400" dirty="0"/>
              <a:t>Parallel Power BI dashboards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Insights</a:t>
            </a:r>
            <a:r>
              <a:rPr lang="en-US" sz="1400" dirty="0"/>
              <a:t>:</a:t>
            </a:r>
          </a:p>
          <a:p>
            <a:pPr marL="628650" lvl="1" indent="-171450" algn="just">
              <a:lnSpc>
                <a:spcPct val="100000"/>
              </a:lnSpc>
            </a:pPr>
            <a:r>
              <a:rPr lang="en-US" sz="1400" dirty="0"/>
              <a:t>Comparative without data blending</a:t>
            </a:r>
          </a:p>
          <a:p>
            <a:pPr algn="just">
              <a:lnSpc>
                <a:spcPct val="100000"/>
              </a:lnSpc>
            </a:pPr>
            <a:r>
              <a:rPr lang="en-US" sz="1600" b="1" dirty="0"/>
              <a:t>Tools</a:t>
            </a:r>
            <a:r>
              <a:rPr lang="en-US" sz="1400" b="1" dirty="0"/>
              <a:t>:</a:t>
            </a:r>
          </a:p>
          <a:p>
            <a:pPr lvl="1" algn="just">
              <a:lnSpc>
                <a:spcPct val="100000"/>
              </a:lnSpc>
            </a:pPr>
            <a:r>
              <a:rPr lang="en-US" sz="1400" dirty="0"/>
              <a:t>Power BI</a:t>
            </a:r>
          </a:p>
          <a:p>
            <a:pPr lvl="1" algn="just">
              <a:lnSpc>
                <a:spcPct val="100000"/>
              </a:lnSpc>
            </a:pPr>
            <a:r>
              <a:rPr lang="en-US" sz="1400" dirty="0"/>
              <a:t>DAX measures</a:t>
            </a:r>
          </a:p>
          <a:p>
            <a:pPr lvl="1" algn="just">
              <a:lnSpc>
                <a:spcPct val="100000"/>
              </a:lnSpc>
            </a:pPr>
            <a:r>
              <a:rPr lang="en-US" sz="1400" dirty="0"/>
              <a:t>Custom dashboards</a:t>
            </a:r>
          </a:p>
          <a:p>
            <a:pPr lvl="1" algn="just">
              <a:lnSpc>
                <a:spcPct val="100000"/>
              </a:lnSpc>
            </a:pPr>
            <a:r>
              <a:rPr lang="en-US" sz="1400" dirty="0"/>
              <a:t>Time series forecasting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46CFFA9-658B-D187-FEE4-030E9248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9B21130F-DD19-0177-E44C-B71CFEC4F058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F6E04527-CDF1-DBE8-DBEC-39BB47B1555C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32732763-13E9-8DCF-46EB-F3FFC73211DF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B84BA303-AFCA-1A87-C449-536C5DEE32CE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32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865" y="303690"/>
            <a:ext cx="7913738" cy="775417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/>
              <a:t>DASHBOARD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215" y="1463040"/>
            <a:ext cx="5181600" cy="272034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/>
              <a:t>Mission X Dashboard Navigation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Overview (Comparative Summary)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Primary Sales Performance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Secondary Sales Performance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Product Performance Analysis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Regional Performance Analysis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Time Intelligence (YTD Analysis)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90-Day Forecast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en-US" sz="1400" dirty="0"/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591B7A6-BDD2-1F2C-D389-EAB10E34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7C280-2838-6A4F-38F4-8B998E6EB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463040"/>
            <a:ext cx="5181600" cy="2720339"/>
          </a:xfrm>
          <a:prstGeom prst="rect">
            <a:avLst/>
          </a:prstGeom>
          <a:noFill/>
        </p:spPr>
      </p:pic>
      <p:sp>
        <p:nvSpPr>
          <p:cNvPr id="4" name="Right Triangle 3">
            <a:extLst>
              <a:ext uri="{FF2B5EF4-FFF2-40B4-BE49-F238E27FC236}">
                <a16:creationId xmlns:a16="http://schemas.microsoft.com/office/drawing/2014/main" id="{C31DC883-7179-9C5B-C90A-FB750CCF9503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88657CA6-A6FF-3EF5-6F21-EB684F839E5C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EED7CD03-8956-C1DF-9AA8-4BBC7543390C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375BCB15-643F-61AA-FEDA-51DD243CB5F0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E172D-5900-E4B0-355E-C2B3C2A29207}"/>
              </a:ext>
            </a:extLst>
          </p:cNvPr>
          <p:cNvSpPr txBox="1"/>
          <p:nvPr/>
        </p:nvSpPr>
        <p:spPr>
          <a:xfrm>
            <a:off x="3293807" y="4212430"/>
            <a:ext cx="5702709" cy="23696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/>
              <a:t>Dashboard Design</a:t>
            </a:r>
            <a:r>
              <a:rPr lang="en-US" sz="1400" dirty="0"/>
              <a:t>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Consistent layout – parallel structure for easy comparison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Color coding – Blue theme for Primary, Yellow for Secondary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Geographic Mapping – Regional performance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Time Intelligence – Year-over-year comparisons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Forecast Visualization – 90-day predictive modelling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FE8-2F9C-9C12-4EB3-9742EA91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324532"/>
            <a:ext cx="8968778" cy="710760"/>
          </a:xfrm>
        </p:spPr>
        <p:txBody>
          <a:bodyPr anchor="ctr">
            <a:noAutofit/>
          </a:bodyPr>
          <a:lstStyle/>
          <a:p>
            <a:pPr algn="ctr"/>
            <a:r>
              <a:rPr lang="en-US" sz="4000" b="1" dirty="0"/>
              <a:t>PRIMARY SALES PERFORMANCE</a:t>
            </a:r>
            <a:endParaRPr lang="en-US" sz="4000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6A7E8F0-D533-C7AD-A020-8026FFEAD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1025" y="975846"/>
            <a:ext cx="5483239" cy="477377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Sales Performance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Total Sales: $1,911,800 (YTD basis)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Annual Trend: 1.09% decrease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Key Insights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Seasonal Peaks: July &amp; October show strongest performance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Annual Low: June consistently underperforms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Christmas items dominate Primary sales, creating seasonal dependency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Performance Optimization Opportunities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Address June decline – investigate causes of annual low performance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Leverage July &amp; October peaks – replicate success factors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Diversify product mix – reduce dependency on Christmas items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318B-D756-6C57-8657-96C83632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318996-9D76-17A6-9C1C-5374E4582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113" y="2853148"/>
            <a:ext cx="5411887" cy="2218087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F30F648A-15C9-E5A5-D8AA-0C9DCE0CECEF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01E78755-B9E3-7B95-0628-0D314C91B8AE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FBB386F1-AD6C-4939-737D-B765A488FE1E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7EA4F7DB-AD15-119E-E664-997DE3DC60B9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65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069A35-1FBE-1160-0C8C-95762A657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EAFA-4D6F-B494-9CA8-5DBD00B99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2" y="368392"/>
            <a:ext cx="9517626" cy="726256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/>
              <a:t>SECONDARY SALES PERFORMANCE</a:t>
            </a:r>
            <a:endParaRPr lang="en-US" sz="4000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76D6157-A7AE-AF06-8020-CAADC6FEF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8528" y="1094648"/>
            <a:ext cx="5663381" cy="4706384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Sales Performance 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Total Sales: $13,959,160 (YTD basis)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Growth: +$1,192,742 increase (2015-2018 comparison)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700" b="1" dirty="0"/>
              <a:t>Key Insights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Consistent growth: monthly progression throughout the year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December dominance: 12.29% of annual sales in single month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Electronics Focus: Bluetooth speakers, 4K cables, smartphone cases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Global reach: Larger customer base with year-round demand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700" b="1" dirty="0"/>
              <a:t>Success Factors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Product diversification across electronics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Global market access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Lower seasonal dependency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Scalable electronics-focused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04772-67BE-BEDB-DAEA-B13ED674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25519A-1F94-8D20-568A-B00973D1E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568" y="2434883"/>
            <a:ext cx="5107088" cy="2282371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81A73919-67B3-CF84-BE74-980DBFF3737E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C1275DCD-91D5-55BC-9572-611C33090624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3910B1E9-2E59-8C2F-E9EF-1B02E56619D2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ED5FDAAB-4ABA-BA3B-2E57-ECFBD943FC77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300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30BF9C3-4A71-41F5-A271-8FD7B4AE1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3961-A85B-3442-22F1-EADCB93B4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377" y="345498"/>
            <a:ext cx="9606116" cy="772044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ln w="28575">
                  <a:noFill/>
                  <a:prstDash val="solid"/>
                </a:ln>
              </a:rPr>
              <a:t>PRODUCT PERFORMANCE ANALYSIS</a:t>
            </a:r>
            <a:endParaRPr lang="en-US" sz="4000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02707C4-D4DC-4356-CBCC-4F29FDF0A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0038" y="1255353"/>
            <a:ext cx="5671671" cy="453584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Primary Product Strategy Analysis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Focus: Christmas category (Candles &amp; Glassware)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Issue: Highly seasonal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Challenge: Limited portfolio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Secondary Product Strategy Analysis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Focus: Electronics, led by the Bluetooth Speaker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Strength: Year-round, consistent demand with a diversified portfolio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Opportunity: Aligns with market trends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Recommendation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Primary Expansion: Add non-seasonal products to decrease dependency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Portfolio Optimization: Balance seasonal and year-round products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259CD-4754-D636-AB3F-D61FC74D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8A3801-BFB7-0616-4FC7-84CA7551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055" y="2260979"/>
            <a:ext cx="5181600" cy="2875788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61A3B575-B83E-0682-5A09-697E6A2F70B9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5D21D689-636F-EC07-308A-57DED04EEE70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37B1FA24-88E7-5F61-8432-C6DCB6284C55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78613D82-96A8-EDE4-8A12-904E237AD724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904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F174CA-4E72-ED9F-28D2-F77A14F4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09B06-F1A9-CE22-49AB-7E5A561F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90" y="437105"/>
            <a:ext cx="9283410" cy="69675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ln w="28575">
                  <a:noFill/>
                  <a:prstDash val="solid"/>
                </a:ln>
              </a:rPr>
              <a:t>REGIONAL PERFORMANCE ANALYSIS</a:t>
            </a:r>
            <a:endParaRPr lang="en-US" sz="4000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6A6FDC7-0304-60AD-4CA6-9CF36ADF1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5076" y="1313319"/>
            <a:ext cx="5455075" cy="4698418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Primary Dataset Regional Performance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Primary market – UK 92.93% centered in Europe with the UK as the main hub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Secondary Dataset Regional Performance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Secondary market – USA 29.62% dominant market with global presence mainly in US &amp; China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Recommendations</a:t>
            </a:r>
            <a:r>
              <a:rPr lang="en-US" sz="1400" b="1" dirty="0"/>
              <a:t>: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Strengthen the primary market by expanding further in Europe (UK, Germany, France)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Grow the secondary market by building on its strong US base to increase global reach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Cross-learn: Apply the secondary market’s global approach to the primary and use the primary’s European expertise to support secondary growth in Europe.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03EB2-E97F-220E-4F89-FC2DD0AF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E389F-1456-6286-8BB7-C04AE5C11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637" y="1824157"/>
            <a:ext cx="4902915" cy="4351338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B4580552-DE1D-B0B9-4D64-877B70378F16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B472F934-0492-5C1A-5B54-FA1B0B3BCA32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F6CB6C60-9216-7323-ACC1-6AD60E1891A1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73CB7041-495A-65F4-528D-4A93DC1EE9D8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286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85BC21-7B6F-EEE1-A513-FE9C962F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0E3F-3D1D-CE0F-7516-4BDFF5BE9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381" y="458260"/>
            <a:ext cx="8673787" cy="670024"/>
          </a:xfrm>
        </p:spPr>
        <p:txBody>
          <a:bodyPr anchor="b">
            <a:noAutofit/>
          </a:bodyPr>
          <a:lstStyle/>
          <a:p>
            <a:pPr algn="ctr"/>
            <a:r>
              <a:rPr lang="en-US" sz="4000" b="1" dirty="0">
                <a:ln w="28575">
                  <a:noFill/>
                  <a:prstDash val="solid"/>
                </a:ln>
              </a:rPr>
              <a:t>TIME INTELLIGENCE ANALYSIS</a:t>
            </a:r>
            <a:endParaRPr lang="en-US" sz="4000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16DD9AA-0E8F-F653-B3A3-663FBBA06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9613" y="1463040"/>
            <a:ext cx="5207051" cy="33375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700" b="1" dirty="0"/>
              <a:t>Year-to-Date Performance Analysis as at Dec 2018 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Primary Dataset YTD Performance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Total YTD Sales : $428,682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Comparative Performance: decrease 6.06% vs. previous year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1700" b="1" dirty="0"/>
              <a:t>Secondary Dataset YTD Performance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Total YTD Sales : $4,098,448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Comparative Performance: increase 11.77% vs. previous year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BFC16-1153-4BEE-CF5A-D9587B87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897E9C-B193-3A58-6A28-24DCB8F88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999" y="2743262"/>
            <a:ext cx="6172200" cy="3194114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DFDB2B0E-DD22-28B6-0E4C-BDBADFA92943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A741EC2-3577-090F-1B63-3243F0A6B1D7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C936465F-2C81-4EEC-7D0B-78F3AA553DEC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425D13FC-8BD2-ACCD-E57C-CF21F188C4B8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972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B458B7-B31E-F669-7043-CA28F127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E733-8A6D-335B-E462-383DBAFFE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755" y="331961"/>
            <a:ext cx="8121445" cy="853539"/>
          </a:xfrm>
        </p:spPr>
        <p:txBody>
          <a:bodyPr anchor="ctr">
            <a:normAutofit/>
          </a:bodyPr>
          <a:lstStyle/>
          <a:p>
            <a:pPr algn="ctr"/>
            <a:r>
              <a:rPr lang="en-US" b="1" dirty="0">
                <a:ln w="28575">
                  <a:noFill/>
                  <a:prstDash val="solid"/>
                </a:ln>
              </a:rPr>
              <a:t>90 DAY FORECAST ANALYSIS</a:t>
            </a:r>
            <a:endParaRPr lang="en-US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554715C-AEEE-FD01-7105-161164D9E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2932" y="1253612"/>
            <a:ext cx="5846965" cy="4635912"/>
          </a:xfrm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/>
              <a:t>Predictive Performance Analysis as at Dec 2018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Primary Sales Forecast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Current Trend: Declining (-1.09% annual, -6.06% YTD)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Outlook: Without intervention, the decline will likely continue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90-day projection: upper +$8.3k, lower -$6.3k</a:t>
            </a:r>
            <a:endParaRPr lang="en-US" sz="1400" dirty="0">
              <a:highlight>
                <a:srgbClr val="FFFF00"/>
              </a:highlight>
            </a:endParaRP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Risk: High – immediate changes needed to reverse trend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Secondary Sales Forecast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Current Trend: Growing (+$1.19m, +11.77% YTD)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Outlook: Growth expected to continue with strong market demand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90-day projection: upper +$27k, lower +$5k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Confidence: High – scalable model supports predictable growth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Summary: Primary requires urgent turnaround; Secondary is poised for continued, scalable growth.</a:t>
            </a:r>
          </a:p>
          <a:p>
            <a:pPr marL="285750" indent="-285750" algn="just">
              <a:lnSpc>
                <a:spcPct val="100000"/>
              </a:lnSpc>
            </a:pP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180D5-B15D-446C-9D16-88EBD9B0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DD90C1-7783-BEAE-94F3-7C54E9030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211" y="2782529"/>
            <a:ext cx="4855443" cy="3003530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9E3030E6-EC14-1F50-894D-AC635BA8FF98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62EA32CF-2A9E-5FC0-3533-C63700C30988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BDDE902E-F6FF-E171-78BC-ABF694F4CDF3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DAD6AF4A-9476-9C01-A568-4F5385B317F9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78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564DB1-C93A-35C8-F6B1-17DFAC38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EA40-4843-F1BC-FE4B-6B7719E0B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625" y="500441"/>
            <a:ext cx="4865739" cy="696759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49D973-8FA1-531E-9246-26DE08700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832" y="1317522"/>
            <a:ext cx="9888794" cy="4077437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Performance Assessment Summary as at Dec 2018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b="1" dirty="0"/>
              <a:t>Primary Dataset: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Declined 1.09% (-6.06% YTD), due to seasonal dependency on Christmas products and a narrow European focus.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b="1" dirty="0"/>
              <a:t>Secondary Dataset: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Grew +$1.19m (11.77% YTD), driven by a diversified electronics portfolio and global market reach.</a:t>
            </a:r>
          </a:p>
          <a:p>
            <a:pPr marL="0" lvl="0" indent="0" algn="just">
              <a:lnSpc>
                <a:spcPct val="150000"/>
              </a:lnSpc>
              <a:buClr>
                <a:srgbClr val="F6A6F4"/>
              </a:buClr>
              <a:buNone/>
              <a:defRPr/>
            </a:pPr>
            <a:r>
              <a:rPr lang="en-US" sz="1600" b="1" dirty="0"/>
              <a:t>Key Insight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Secondary operates at 7.3x the scale of Primary, with fundamentally different growth patterns and seasonality.</a:t>
            </a:r>
          </a:p>
          <a:p>
            <a:pPr marL="0" indent="0" algn="just">
              <a:lnSpc>
                <a:spcPct val="150000"/>
              </a:lnSpc>
              <a:buClr>
                <a:srgbClr val="F6A6F4"/>
              </a:buClr>
              <a:buNone/>
              <a:defRPr/>
            </a:pPr>
            <a:r>
              <a:rPr lang="en-US" sz="1600" b="1" dirty="0"/>
              <a:t>Strategic Imperative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Primary requires immediate turnaround through product and geographic diversification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Secondary should accelerate its proven growth model into new markets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Cross-learning between the two units can drive integrated improvement.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DA3C90B-9571-F585-5A1D-12D69948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8273C816-0BCA-5439-9C1B-939B48C6F247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8092F9B4-1120-8348-4BB3-F794521951B6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FAEFB699-84B4-D736-8E11-883B7B91F248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819D6BCA-1CE7-404D-C030-91D76F90DF9F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675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55FEE5-39B3-EE2C-A817-FBD9BF42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D1DC-316B-A485-3336-36B62585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5713" y="283686"/>
            <a:ext cx="5794887" cy="745920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/>
              <a:t>RECOMMENDATION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9427685-29BA-52B5-1E6B-8CDCBDEE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4C4D98E3-94E4-9FE8-4EDC-B0179F257A4C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A97F0081-5505-B4BC-8457-FC37C90EC891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4160FA29-2C08-E0A5-66F8-5639490A84C5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8888BB61-6ACC-7657-763F-022FD7A58534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D68EFB9-5348-6936-DFD5-FC19AF660F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3545137"/>
              </p:ext>
            </p:extLst>
          </p:nvPr>
        </p:nvGraphicFramePr>
        <p:xfrm>
          <a:off x="1280962" y="1446040"/>
          <a:ext cx="9672622" cy="4493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481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9BCD563582EC4E97F7A278F52CACFB" ma:contentTypeVersion="5" ma:contentTypeDescription="Create a new document." ma:contentTypeScope="" ma:versionID="560d0d2b8aa10310ac68705791dc805c">
  <xsd:schema xmlns:xsd="http://www.w3.org/2001/XMLSchema" xmlns:xs="http://www.w3.org/2001/XMLSchema" xmlns:p="http://schemas.microsoft.com/office/2006/metadata/properties" xmlns:ns3="d496100e-88f0-4ab6-a592-4a13a9ccdea8" targetNamespace="http://schemas.microsoft.com/office/2006/metadata/properties" ma:root="true" ma:fieldsID="2fc36acc5cf37813e42ee09ee3a6e2eb" ns3:_="">
    <xsd:import namespace="d496100e-88f0-4ab6-a592-4a13a9ccdea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96100e-88f0-4ab6-a592-4a13a9ccdea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496100e-88f0-4ab6-a592-4a13a9ccdea8" xsi:nil="true"/>
  </documentManagement>
</p:properties>
</file>

<file path=customXml/itemProps1.xml><?xml version="1.0" encoding="utf-8"?>
<ds:datastoreItem xmlns:ds="http://schemas.openxmlformats.org/officeDocument/2006/customXml" ds:itemID="{7A5D95F6-0C47-44CB-9739-050539D0D4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96100e-88f0-4ab6-a592-4a13a9ccde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B8ECF1-2A9D-464C-AFE8-2B3295D0BF97}">
  <ds:schemaRefs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d496100e-88f0-4ab6-a592-4a13a9ccdea8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1713</TotalTime>
  <Words>1150</Words>
  <Application>Microsoft Office PowerPoint</Application>
  <PresentationFormat>Widescreen</PresentationFormat>
  <Paragraphs>201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Courier New</vt:lpstr>
      <vt:lpstr>Segoe UI Light</vt:lpstr>
      <vt:lpstr>Wingdings</vt:lpstr>
      <vt:lpstr>Office Theme</vt:lpstr>
      <vt:lpstr>Sales Performance Analysis  A Comparative study of Primary &amp; Secondary dataset  Analysis Period: January 2015 – December 2018</vt:lpstr>
      <vt:lpstr>CONTENTS</vt:lpstr>
      <vt:lpstr>EXECUTIVE SUMMARY</vt:lpstr>
      <vt:lpstr>INTRODUCTION &amp; OBJECTIVES</vt:lpstr>
      <vt:lpstr>DATA SOURCE</vt:lpstr>
      <vt:lpstr>METHODOLOGY</vt:lpstr>
      <vt:lpstr>DASHBOARD OVERVIEW</vt:lpstr>
      <vt:lpstr>PRIMARY SALES PERFORMANCE</vt:lpstr>
      <vt:lpstr>SECONDARY SALES PERFORMANCE</vt:lpstr>
      <vt:lpstr>PRODUCT PERFORMANCE ANALYSIS</vt:lpstr>
      <vt:lpstr>REGIONAL PERFORMANCE ANALYSIS</vt:lpstr>
      <vt:lpstr>TIME INTELLIGENCE ANALYSIS</vt:lpstr>
      <vt:lpstr>90 DAY FORECAST ANALYSIS</vt:lpstr>
      <vt:lpstr>CONCLUSION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Ilaisaane Mosiana Atiola</dc:creator>
  <cp:lastModifiedBy>Bushra Khan</cp:lastModifiedBy>
  <cp:revision>26</cp:revision>
  <dcterms:created xsi:type="dcterms:W3CDTF">2026-01-13T23:46:45Z</dcterms:created>
  <dcterms:modified xsi:type="dcterms:W3CDTF">2026-01-15T05:53:06Z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0x010100AD9BCD563582EC4E97F7A278F52CACFB</vt:lpwstr>
  </property>
</Properties>
</file>